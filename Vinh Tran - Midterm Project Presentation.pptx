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69" r:id="rId3"/>
    <p:sldId id="284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Wednesday, March 4,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Wednesday, March 4,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0D1107-8030-B797-4B87-27162CBE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684430"/>
            <a:ext cx="6474434" cy="1644603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581458"/>
            <a:ext cx="6474434" cy="1474521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215204"/>
            <a:ext cx="6474434" cy="5810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8424F-46DB-9E00-71BB-100694C197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699" y="1151832"/>
            <a:ext cx="2654301" cy="285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348C61-C2A2-4A56-876B-5AF63339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2F96-4936-05C3-1FC7-217E020F5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C9C630-A663-62AC-38A7-92A9D717E9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2981325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abs/10.1080/19393555.2015.1125974" TargetMode="External"/><Relationship Id="rId7" Type="http://schemas.openxmlformats.org/officeDocument/2006/relationships/hyperlink" Target="https://link.springer.com/chapter/10.1007/978-3-030-72802-1_9" TargetMode="External"/><Relationship Id="rId2" Type="http://schemas.openxmlformats.org/officeDocument/2006/relationships/hyperlink" Target="https://ieeexplore.ieee.org/abstract/document/734894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011.09144" TargetMode="External"/><Relationship Id="rId5" Type="http://schemas.openxmlformats.org/officeDocument/2006/relationships/hyperlink" Target="https://link.springer.com/chapter/10.1007/978-3-319-59439-2_5" TargetMode="External"/><Relationship Id="rId4" Type="http://schemas.openxmlformats.org/officeDocument/2006/relationships/hyperlink" Target="https://ieeexplore.ieee.org/abstract/document/79487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126C6-5CE1-BFAB-2CCF-C1EDBC00F3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b="1" dirty="0"/>
              <a:t>Vinh Tran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0893F3-330C-19F2-B586-267667770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966" y="1931349"/>
            <a:ext cx="8137778" cy="2461189"/>
          </a:xfrm>
        </p:spPr>
        <p:txBody>
          <a:bodyPr>
            <a:normAutofit/>
          </a:bodyPr>
          <a:lstStyle/>
          <a:p>
            <a:r>
              <a:rPr lang="en-US" dirty="0"/>
              <a:t>CPSC 597</a:t>
            </a:r>
            <a:br>
              <a:rPr lang="en-US" dirty="0"/>
            </a:br>
            <a:r>
              <a:rPr lang="en-US" dirty="0"/>
              <a:t>Midterm Project Presentation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77E61-BB76-CC18-FCBE-9B8EC614E057}"/>
              </a:ext>
            </a:extLst>
          </p:cNvPr>
          <p:cNvSpPr txBox="1"/>
          <p:nvPr/>
        </p:nvSpPr>
        <p:spPr>
          <a:xfrm>
            <a:off x="1424966" y="3640509"/>
            <a:ext cx="105515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 Web Application Integrating an AI-Based Intrusion Detection System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for Network Traffic Analysis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8A7F8EC-F6F9-DB83-A09B-4BDF925C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056CA8A-5C92-C566-541D-4912160C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11269766" cy="4042161"/>
          </a:xfrm>
        </p:spPr>
        <p:txBody>
          <a:bodyPr/>
          <a:lstStyle/>
          <a:p>
            <a:pPr marL="228600" indent="-228600">
              <a:buAutoNum type="arabicPeriod"/>
            </a:pPr>
            <a:r>
              <a:rPr lang="en-US" sz="2000" b="1" dirty="0"/>
              <a:t> Achievements</a:t>
            </a:r>
          </a:p>
          <a:p>
            <a:pPr marL="974725" lvl="1" indent="-342900"/>
            <a:r>
              <a:rPr lang="en-US" sz="2000" b="1" dirty="0"/>
              <a:t>Dataset</a:t>
            </a:r>
          </a:p>
          <a:p>
            <a:pPr marL="974725" lvl="1" indent="-342900"/>
            <a:r>
              <a:rPr lang="en-US" sz="2000" b="1" dirty="0"/>
              <a:t>Machine Learning Models</a:t>
            </a:r>
          </a:p>
          <a:p>
            <a:pPr marL="974725" lvl="1" indent="-342900"/>
            <a:r>
              <a:rPr lang="en-US" sz="2000" b="1" dirty="0"/>
              <a:t>Server Development</a:t>
            </a:r>
          </a:p>
          <a:p>
            <a:pPr marL="974725" lvl="1" indent="-342900"/>
            <a:r>
              <a:rPr lang="en-US" sz="2000" b="1" dirty="0"/>
              <a:t>Client Development</a:t>
            </a:r>
          </a:p>
          <a:p>
            <a:pPr marL="228600" indent="-228600">
              <a:buAutoNum type="arabicPeriod"/>
            </a:pPr>
            <a:r>
              <a:rPr lang="en-US" sz="2000" b="1" dirty="0"/>
              <a:t> Future Plans</a:t>
            </a:r>
          </a:p>
          <a:p>
            <a:pPr marL="228600" indent="-228600">
              <a:buAutoNum type="arabicPeriod"/>
            </a:pPr>
            <a:r>
              <a:rPr lang="en-US" sz="2000" b="1" dirty="0"/>
              <a:t> Demo/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1223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3E73-9205-1A6D-BF22-B55DF98F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C333558-92FB-FD03-A1BD-222B1876E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95585"/>
          </a:xfrm>
        </p:spPr>
        <p:txBody>
          <a:bodyPr/>
          <a:lstStyle/>
          <a:p>
            <a:r>
              <a:rPr lang="en-US" dirty="0"/>
              <a:t>1. Dataset - Overview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057FCC6C-B532-FEAF-AEE1-3F0C2E6F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2606"/>
            <a:ext cx="11269766" cy="4358356"/>
          </a:xfrm>
        </p:spPr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sz="2800" b="1" dirty="0"/>
              <a:t>Name</a:t>
            </a:r>
            <a:r>
              <a:rPr lang="en-US" sz="2800" dirty="0"/>
              <a:t>: UNSW-NB15 Dataset</a:t>
            </a:r>
            <a:endParaRPr lang="en-US" sz="2800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sz="2800" b="1" dirty="0">
                <a:sym typeface="Wingdings" panose="05000000000000000000" pitchFamily="2" charset="2"/>
              </a:rPr>
              <a:t>Author</a:t>
            </a:r>
            <a:r>
              <a:rPr lang="en-US" sz="2800" dirty="0">
                <a:sym typeface="Wingdings" panose="05000000000000000000" pitchFamily="2" charset="2"/>
              </a:rPr>
              <a:t>: Dr. Nour Moustafa from UNSW Canberra, Sydney</a:t>
            </a:r>
          </a:p>
          <a:p>
            <a:pPr marL="171450" indent="-171450">
              <a:buFontTx/>
              <a:buChar char="-"/>
            </a:pPr>
            <a:r>
              <a:rPr lang="en-US" sz="2800" dirty="0">
                <a:sym typeface="Wingdings" panose="05000000000000000000" pitchFamily="2" charset="2"/>
              </a:rPr>
              <a:t>Contain raw network traffic data that are split into two different files</a:t>
            </a:r>
          </a:p>
          <a:p>
            <a:pPr marL="803275" lvl="1" indent="-171450">
              <a:buFontTx/>
              <a:buChar char="-"/>
            </a:pPr>
            <a:r>
              <a:rPr lang="en-US" sz="2800" dirty="0">
                <a:sym typeface="Wingdings" panose="05000000000000000000" pitchFamily="2" charset="2"/>
              </a:rPr>
              <a:t>‘UNSW_NB15_training-set.csv’: have 175,342 records</a:t>
            </a:r>
          </a:p>
          <a:p>
            <a:pPr marL="803275" lvl="1" indent="-171450">
              <a:buFontTx/>
              <a:buChar char="-"/>
            </a:pPr>
            <a:r>
              <a:rPr lang="en-US" sz="2800" dirty="0">
                <a:sym typeface="Wingdings" panose="05000000000000000000" pitchFamily="2" charset="2"/>
              </a:rPr>
              <a:t>‘UNSW_NB15_testing-set.csv’: have 82,332 records</a:t>
            </a:r>
          </a:p>
          <a:p>
            <a:pPr marL="171450" indent="-171450">
              <a:buFontTx/>
              <a:buChar char="-"/>
            </a:pPr>
            <a:r>
              <a:rPr lang="en-US" sz="2800" dirty="0">
                <a:sym typeface="Wingdings" panose="05000000000000000000" pitchFamily="2" charset="2"/>
              </a:rPr>
              <a:t>Have totally 49 features and 9 types of attacks (e.g., </a:t>
            </a:r>
            <a:r>
              <a:rPr lang="en-US" sz="2800" dirty="0" err="1">
                <a:sym typeface="Wingdings" panose="05000000000000000000" pitchFamily="2" charset="2"/>
              </a:rPr>
              <a:t>Fuzzers</a:t>
            </a:r>
            <a:r>
              <a:rPr lang="en-US" sz="2800" dirty="0">
                <a:sym typeface="Wingdings" panose="05000000000000000000" pitchFamily="2" charset="2"/>
              </a:rPr>
              <a:t>, Analysis, Backdoors, DoS, etc.)</a:t>
            </a:r>
          </a:p>
        </p:txBody>
      </p:sp>
    </p:spTree>
    <p:extLst>
      <p:ext uri="{BB962C8B-B14F-4D97-AF65-F5344CB8AC3E}">
        <p14:creationId xmlns:p14="http://schemas.microsoft.com/office/powerpoint/2010/main" val="332482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761F-8027-EB8A-C9A3-E7B19EDC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D1E0C51-9918-BC72-4261-1E20576E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Dataset - Preprocessing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087952DA-CD60-591B-77D5-6E7AEC4A5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142BE-D278-1438-FE6D-D20B42AF3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7" y="1583109"/>
            <a:ext cx="5991225" cy="2171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7B8EEE-7A5A-1EA9-9A3F-B8FCDAD2F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007" y="1583109"/>
            <a:ext cx="4563009" cy="4287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7F537-B4F2-EEAB-A7F9-40DB7AC02A87}"/>
              </a:ext>
            </a:extLst>
          </p:cNvPr>
          <p:cNvSpPr txBox="1"/>
          <p:nvPr/>
        </p:nvSpPr>
        <p:spPr>
          <a:xfrm>
            <a:off x="650247" y="4218418"/>
            <a:ext cx="591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Dropped 5 features, such as “id”, “</a:t>
            </a:r>
            <a:r>
              <a:rPr lang="en-US" dirty="0" err="1"/>
              <a:t>srcip</a:t>
            </a:r>
            <a:r>
              <a:rPr lang="en-US" dirty="0"/>
              <a:t>”, “sport”, “</a:t>
            </a:r>
            <a:r>
              <a:rPr lang="en-US" dirty="0" err="1"/>
              <a:t>dstip</a:t>
            </a:r>
            <a:r>
              <a:rPr lang="en-US" dirty="0"/>
              <a:t>”, “</a:t>
            </a:r>
            <a:r>
              <a:rPr lang="en-US" dirty="0" err="1"/>
              <a:t>dsport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07580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6B28-2A81-9BEB-6C64-CEC785DC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4760431-843A-4E15-D85E-93605CA5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Dataset - Preprocessing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1C878528-4EC9-98B9-B524-8B0876001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2D793-120B-BCB4-9BE1-543A003D5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34" y="1332209"/>
            <a:ext cx="4810125" cy="1971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DC935-E902-45FA-EF9B-0247E4D7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05949"/>
            <a:ext cx="4591050" cy="1228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000E5-9151-B478-C19B-7A5AF7C6A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382" y="3133725"/>
            <a:ext cx="51054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7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A5A9-C653-8C19-D81B-202E5380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FA0BC19-0A9E-6A61-3190-C9324758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Dataset - Preprocessing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9B1C22A-99E9-99EB-77F1-25837FD3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790BE-AA22-A430-1556-581156F57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35" y="1698654"/>
            <a:ext cx="5046842" cy="1130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56F510-5DCC-957F-C016-C3BDE3F9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35" y="3429000"/>
            <a:ext cx="5046842" cy="1533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FE54A3-2EE5-87A5-C0C1-F29D0339E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520" y="295186"/>
            <a:ext cx="5853327" cy="140346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D83333-2C9E-2A8A-9C6A-D0FB6DE15012}"/>
              </a:ext>
            </a:extLst>
          </p:cNvPr>
          <p:cNvCxnSpPr/>
          <p:nvPr/>
        </p:nvCxnSpPr>
        <p:spPr>
          <a:xfrm>
            <a:off x="2922662" y="2905570"/>
            <a:ext cx="0" cy="4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D55C3A9-6F31-D5FF-E1F9-06CE71FC8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711" y="2151582"/>
            <a:ext cx="3463675" cy="415784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74B6B7-FFCA-4D68-0BA5-0C4BD58EDC89}"/>
              </a:ext>
            </a:extLst>
          </p:cNvPr>
          <p:cNvCxnSpPr/>
          <p:nvPr/>
        </p:nvCxnSpPr>
        <p:spPr>
          <a:xfrm>
            <a:off x="8981182" y="1698654"/>
            <a:ext cx="0" cy="4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60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83CF-5D1D-35DD-22F4-2643BD6B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9DA5DF4-6D3E-2925-8F5A-3467A453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Machine Learning Models -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19150D-79F8-77C3-6747-B79412B2D608}"/>
              </a:ext>
            </a:extLst>
          </p:cNvPr>
          <p:cNvSpPr/>
          <p:nvPr/>
        </p:nvSpPr>
        <p:spPr>
          <a:xfrm>
            <a:off x="546931" y="2418460"/>
            <a:ext cx="2401368" cy="15040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9C1638-A0E9-BC97-95A2-0C692EFB95AC}"/>
              </a:ext>
            </a:extLst>
          </p:cNvPr>
          <p:cNvSpPr/>
          <p:nvPr/>
        </p:nvSpPr>
        <p:spPr>
          <a:xfrm>
            <a:off x="717847" y="2820112"/>
            <a:ext cx="863125" cy="683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Features_training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5CA0A1-69D4-B613-25C3-0C7FD75496FF}"/>
              </a:ext>
            </a:extLst>
          </p:cNvPr>
          <p:cNvSpPr/>
          <p:nvPr/>
        </p:nvSpPr>
        <p:spPr>
          <a:xfrm>
            <a:off x="1773965" y="2820112"/>
            <a:ext cx="863125" cy="683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Target_training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F1FF6-D8F7-EB0C-AE7E-465319BA163E}"/>
              </a:ext>
            </a:extLst>
          </p:cNvPr>
          <p:cNvSpPr txBox="1"/>
          <p:nvPr/>
        </p:nvSpPr>
        <p:spPr>
          <a:xfrm>
            <a:off x="546931" y="2087681"/>
            <a:ext cx="2401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UNSW_NB15_training-set.csv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1898923-0CF3-B9C0-47C1-30993EA1C72F}"/>
              </a:ext>
            </a:extLst>
          </p:cNvPr>
          <p:cNvSpPr/>
          <p:nvPr/>
        </p:nvSpPr>
        <p:spPr>
          <a:xfrm>
            <a:off x="3008120" y="3076486"/>
            <a:ext cx="1726250" cy="1880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846A4-2E00-E35A-9BD1-2C442DCB0C5E}"/>
              </a:ext>
            </a:extLst>
          </p:cNvPr>
          <p:cNvSpPr txBox="1"/>
          <p:nvPr/>
        </p:nvSpPr>
        <p:spPr>
          <a:xfrm>
            <a:off x="3315768" y="2718109"/>
            <a:ext cx="127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C57028-F6AC-373F-9BAF-A9C9208FE5C6}"/>
              </a:ext>
            </a:extLst>
          </p:cNvPr>
          <p:cNvSpPr/>
          <p:nvPr/>
        </p:nvSpPr>
        <p:spPr>
          <a:xfrm>
            <a:off x="4794191" y="2489235"/>
            <a:ext cx="2401368" cy="1196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Learning Models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E26304-E923-BE67-3BED-9D31881F9B42}"/>
              </a:ext>
            </a:extLst>
          </p:cNvPr>
          <p:cNvSpPr/>
          <p:nvPr/>
        </p:nvSpPr>
        <p:spPr>
          <a:xfrm>
            <a:off x="7315200" y="3087440"/>
            <a:ext cx="1868680" cy="1770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A41E1C-3CC1-6CD2-2491-980FC7DA21FD}"/>
              </a:ext>
            </a:extLst>
          </p:cNvPr>
          <p:cNvSpPr txBox="1"/>
          <p:nvPr/>
        </p:nvSpPr>
        <p:spPr>
          <a:xfrm>
            <a:off x="7800886" y="2718655"/>
            <a:ext cx="89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7EAA01-5D43-F824-E1E5-79E313306A49}"/>
              </a:ext>
            </a:extLst>
          </p:cNvPr>
          <p:cNvSpPr/>
          <p:nvPr/>
        </p:nvSpPr>
        <p:spPr>
          <a:xfrm>
            <a:off x="9333432" y="2489235"/>
            <a:ext cx="2401368" cy="15040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AF101F-7206-B87B-C7B4-0D7164C743DF}"/>
              </a:ext>
            </a:extLst>
          </p:cNvPr>
          <p:cNvSpPr/>
          <p:nvPr/>
        </p:nvSpPr>
        <p:spPr>
          <a:xfrm>
            <a:off x="9487256" y="2654674"/>
            <a:ext cx="863125" cy="683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Features_testing</a:t>
            </a:r>
            <a:endParaRPr lang="en-US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3061D3-F118-B2B3-9AC7-8259E78C96C2}"/>
              </a:ext>
            </a:extLst>
          </p:cNvPr>
          <p:cNvSpPr/>
          <p:nvPr/>
        </p:nvSpPr>
        <p:spPr>
          <a:xfrm>
            <a:off x="10623134" y="2654674"/>
            <a:ext cx="863125" cy="683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Target_testing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3B0A5B-D19D-F686-67C6-0A5EA85454BF}"/>
              </a:ext>
            </a:extLst>
          </p:cNvPr>
          <p:cNvSpPr txBox="1"/>
          <p:nvPr/>
        </p:nvSpPr>
        <p:spPr>
          <a:xfrm>
            <a:off x="9333432" y="2141461"/>
            <a:ext cx="2401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UNSW_NB15_testing-set.csv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256E37-8E3F-F8E1-3A53-E4B46065C2A0}"/>
              </a:ext>
            </a:extLst>
          </p:cNvPr>
          <p:cNvCxnSpPr>
            <a:cxnSpLocks/>
          </p:cNvCxnSpPr>
          <p:nvPr/>
        </p:nvCxnSpPr>
        <p:spPr>
          <a:xfrm flipH="1">
            <a:off x="9913121" y="3323519"/>
            <a:ext cx="5697" cy="256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F6EEFC-D348-095B-FECC-E5B74C0D4142}"/>
              </a:ext>
            </a:extLst>
          </p:cNvPr>
          <p:cNvSpPr/>
          <p:nvPr/>
        </p:nvSpPr>
        <p:spPr>
          <a:xfrm>
            <a:off x="9487256" y="3580165"/>
            <a:ext cx="918672" cy="236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Predictions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880738-9665-42E2-2A04-963C0075561F}"/>
              </a:ext>
            </a:extLst>
          </p:cNvPr>
          <p:cNvCxnSpPr>
            <a:stCxn id="23" idx="3"/>
            <a:endCxn id="17" idx="2"/>
          </p:cNvCxnSpPr>
          <p:nvPr/>
        </p:nvCxnSpPr>
        <p:spPr>
          <a:xfrm flipV="1">
            <a:off x="10405928" y="3338338"/>
            <a:ext cx="648769" cy="3602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7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A3AB-8C65-E899-1758-AEC176A4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84854E87-8BB5-17F8-3623-10DC0247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Machine Learning Models - Comparison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1254A1E9-AADC-61D1-5F61-4633EFF10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97ABA4-12A4-7757-B826-3197EBD8F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48162"/>
              </p:ext>
            </p:extLst>
          </p:nvPr>
        </p:nvGraphicFramePr>
        <p:xfrm>
          <a:off x="3382750" y="2382711"/>
          <a:ext cx="5418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608142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50859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4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0.699 or 69.9%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297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0.698 or 69.8%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30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 or 68.0%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56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 or 75.0%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93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XGBoost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0.766 or 76.6%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719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6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3FC4-3FC6-33EB-F444-F7F9A30B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FBBA5CFF-FB3B-7B24-6B89-D176E808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Server Development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FE42834-1854-D643-F762-EBAF259FA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4EA5C-C215-DE0B-B1BE-24325E39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5875"/>
            <a:ext cx="7800975" cy="428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1B9D8C-1D39-A147-E89B-F5B6F21CE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460" y="1624324"/>
            <a:ext cx="5095875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62210-77C7-C500-DBC2-AB662CA49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509" y="2722014"/>
            <a:ext cx="50577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85C7-4851-3114-8E64-4F02559C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BC4D37C-03C0-44C3-392E-E2FA5468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Client Development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5ACCB0D-230D-C918-6D49-6EAEB1CB1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89637-332F-5D0E-29F9-DF91940A7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873" y="1051133"/>
            <a:ext cx="8990176" cy="450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1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6A98-5901-BA52-D450-A3C05BD2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8306AD5-A26E-261A-FBA8-569C45BE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Client Development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005BE2BB-A32E-7480-1292-4409A17E3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89847-3EB5-782A-34F4-85E26E20B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47" y="1119500"/>
            <a:ext cx="9101271" cy="451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6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2575-953F-F027-A738-3A600D6D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93F3520-5880-62D5-DE09-44AFB378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1. Client Development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4B5EF02-8569-FAA1-1BA7-FAC1DEE08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89AE2-8721-5B60-7A04-947B50D5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02" y="1051133"/>
            <a:ext cx="9528561" cy="473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B01B-9805-A797-9F98-453B9F77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38BC-3187-C0E6-3823-DD979433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2000" dirty="0"/>
              <a:t>Design the user interface for the Info page</a:t>
            </a:r>
          </a:p>
          <a:p>
            <a:pPr marL="171450" indent="-171450">
              <a:buFontTx/>
              <a:buChar char="-"/>
            </a:pPr>
            <a:r>
              <a:rPr lang="en-US" sz="2000" dirty="0"/>
              <a:t>Implement the logic, notifications, and warnings that are popped up to users when they interact with the application</a:t>
            </a:r>
          </a:p>
          <a:p>
            <a:pPr marL="171450" indent="-171450">
              <a:buFontTx/>
              <a:buChar char="-"/>
            </a:pPr>
            <a:r>
              <a:rPr lang="en-US" sz="2000" dirty="0"/>
              <a:t>Implement the logic for the server side to ensure that the account has unique username and email</a:t>
            </a:r>
          </a:p>
          <a:p>
            <a:pPr marL="171450" indent="-171450">
              <a:buFontTx/>
              <a:buChar char="-"/>
            </a:pPr>
            <a:r>
              <a:rPr lang="en-US" sz="2000" dirty="0"/>
              <a:t>Implement the logic to display the user interface after a user successfully logs in to the application</a:t>
            </a:r>
          </a:p>
          <a:p>
            <a:pPr marL="171450" indent="-171450">
              <a:buFontTx/>
              <a:buChar char="-"/>
            </a:pPr>
            <a:r>
              <a:rPr lang="en-US" sz="2000" dirty="0"/>
              <a:t>Develop another API that accepts and stores the files uploaded by users</a:t>
            </a:r>
          </a:p>
        </p:txBody>
      </p:sp>
    </p:spTree>
    <p:extLst>
      <p:ext uri="{BB962C8B-B14F-4D97-AF65-F5344CB8AC3E}">
        <p14:creationId xmlns:p14="http://schemas.microsoft.com/office/powerpoint/2010/main" val="732577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47B8-5CEF-CF2B-A95B-8749663C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5103"/>
            <a:ext cx="11277600" cy="1143000"/>
          </a:xfrm>
        </p:spPr>
        <p:txBody>
          <a:bodyPr/>
          <a:lstStyle/>
          <a:p>
            <a:pPr algn="ctr"/>
            <a:r>
              <a:rPr lang="en-US" dirty="0"/>
              <a:t>3. Demo/ Demonstration</a:t>
            </a:r>
          </a:p>
        </p:txBody>
      </p:sp>
    </p:spTree>
    <p:extLst>
      <p:ext uri="{BB962C8B-B14F-4D97-AF65-F5344CB8AC3E}">
        <p14:creationId xmlns:p14="http://schemas.microsoft.com/office/powerpoint/2010/main" val="96197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0DF4-34E8-A8BE-2E36-9BC631D9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EE6A-4378-7D48-9B3C-7A944619A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Moustafa, Nour, and Jill Slay. </a:t>
            </a:r>
            <a:r>
              <a:rPr lang="en-US" dirty="0">
                <a:hlinkClick r:id="rId2"/>
              </a:rPr>
              <a:t>"UNSW-NB15: a comprehensive data set for network intrusion detection systems (UNSW-NB15 network data set)."</a:t>
            </a:r>
            <a:r>
              <a:rPr lang="en-US" i="1" dirty="0"/>
              <a:t> Military Communications and Information Systems Conference (</a:t>
            </a:r>
            <a:r>
              <a:rPr lang="en-US" i="1" dirty="0" err="1"/>
              <a:t>MilCIS</a:t>
            </a:r>
            <a:r>
              <a:rPr lang="en-US" i="1" dirty="0"/>
              <a:t>)</a:t>
            </a:r>
            <a:r>
              <a:rPr lang="en-US" dirty="0"/>
              <a:t>, 2015. IEEE, 2015.</a:t>
            </a:r>
          </a:p>
          <a:p>
            <a:r>
              <a:rPr lang="en-US" dirty="0"/>
              <a:t>Moustafa, Nour, and Jill Slay. </a:t>
            </a:r>
            <a:r>
              <a:rPr lang="en-US" dirty="0">
                <a:hlinkClick r:id="rId3"/>
              </a:rPr>
              <a:t>"The evaluation of Network Anomaly Detection Systems: Statistical analysis of the UNSW-NB15 dataset and the comparison with the KDD99 dataset."</a:t>
            </a:r>
            <a:r>
              <a:rPr lang="en-US" dirty="0"/>
              <a:t> </a:t>
            </a:r>
            <a:r>
              <a:rPr lang="en-US" i="1" dirty="0"/>
              <a:t>Information Security Journal: A Global Perspective</a:t>
            </a:r>
            <a:r>
              <a:rPr lang="en-US" dirty="0"/>
              <a:t> (2016): 1-14.</a:t>
            </a:r>
          </a:p>
          <a:p>
            <a:r>
              <a:rPr lang="en-US" dirty="0"/>
              <a:t>Moustafa, Nour, et al</a:t>
            </a:r>
            <a:r>
              <a:rPr lang="en-US" dirty="0">
                <a:hlinkClick r:id="rId4"/>
              </a:rPr>
              <a:t>. "Novel geometric area analysis technique for anomaly detection using trapezoidal area estimation on large-scale networks."</a:t>
            </a:r>
            <a:r>
              <a:rPr lang="en-US" i="1" dirty="0"/>
              <a:t> IEEE Transactions on Big Data (2017).</a:t>
            </a:r>
            <a:endParaRPr lang="en-US" dirty="0"/>
          </a:p>
          <a:p>
            <a:r>
              <a:rPr lang="en-US" dirty="0"/>
              <a:t>Moustafa, Nour, et al. </a:t>
            </a:r>
            <a:r>
              <a:rPr lang="en-US" dirty="0">
                <a:hlinkClick r:id="rId5"/>
              </a:rPr>
              <a:t>"Big data analytics for intrusion detection system: statistical decision-making using finite </a:t>
            </a:r>
            <a:r>
              <a:rPr lang="en-US" dirty="0" err="1">
                <a:hlinkClick r:id="rId5"/>
              </a:rPr>
              <a:t>dirichlet</a:t>
            </a:r>
            <a:r>
              <a:rPr lang="en-US" dirty="0">
                <a:hlinkClick r:id="rId5"/>
              </a:rPr>
              <a:t> mixture models." </a:t>
            </a:r>
            <a:r>
              <a:rPr lang="en-US" i="1" dirty="0"/>
              <a:t>Data Analytics and Decision Support for Cybersecurity. Springer, Cham, 2017. </a:t>
            </a:r>
            <a:r>
              <a:rPr lang="en-US" dirty="0"/>
              <a:t>127-156.</a:t>
            </a:r>
          </a:p>
          <a:p>
            <a:r>
              <a:rPr lang="en-US" dirty="0"/>
              <a:t>Sarhan, Mohanad, Siamak </a:t>
            </a:r>
            <a:r>
              <a:rPr lang="en-US" dirty="0" err="1"/>
              <a:t>Layeghy</a:t>
            </a:r>
            <a:r>
              <a:rPr lang="en-US" dirty="0"/>
              <a:t>, Nour Moustafa, and Marius Portmann.</a:t>
            </a:r>
            <a:r>
              <a:rPr lang="en-US" dirty="0">
                <a:hlinkClick r:id="rId6"/>
              </a:rPr>
              <a:t> NetFlow Datasets for Machine Learning-Based Network Intrusion Detection Systems.</a:t>
            </a:r>
            <a:r>
              <a:rPr lang="en-US" dirty="0"/>
              <a:t> In </a:t>
            </a:r>
            <a:r>
              <a:rPr lang="en-US" i="1" dirty="0">
                <a:hlinkClick r:id="rId7"/>
              </a:rPr>
              <a:t>Big Data Technologies and Applications: 10th EAI International Conference, BDTA 2020, and 13th EAI International Conference on Wireless Internet, </a:t>
            </a:r>
            <a:r>
              <a:rPr lang="en-US" i="1" dirty="0" err="1">
                <a:hlinkClick r:id="rId7"/>
              </a:rPr>
              <a:t>WiCON</a:t>
            </a:r>
            <a:r>
              <a:rPr lang="en-US" i="1" dirty="0">
                <a:hlinkClick r:id="rId7"/>
              </a:rPr>
              <a:t> 2020, Virtual Event, December 11, 2020, Proceedings</a:t>
            </a:r>
            <a:r>
              <a:rPr lang="en-US" dirty="0">
                <a:hlinkClick r:id="rId7"/>
              </a:rPr>
              <a:t> (p. 117). Springer Nature.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68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UF-PPT-1-A.potx" id="{E13FE947-1374-4EFE-A238-7BFC20D6E167}" vid="{777727EA-B4F9-40AF-8260-CC2A141DB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CSUF-PPT-1-A</Template>
  <TotalTime>721</TotalTime>
  <Words>560</Words>
  <Application>Microsoft Office PowerPoint</Application>
  <PresentationFormat>Widescreen</PresentationFormat>
  <Paragraphs>65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CPSC 597 Midterm Project Presentation  </vt:lpstr>
      <vt:lpstr>Contents</vt:lpstr>
      <vt:lpstr>1. Dataset - Overview</vt:lpstr>
      <vt:lpstr>1. Dataset - Preprocessing</vt:lpstr>
      <vt:lpstr>1. Dataset - Preprocessing</vt:lpstr>
      <vt:lpstr>1. Dataset - Preprocessing</vt:lpstr>
      <vt:lpstr>1. Machine Learning Models - Training</vt:lpstr>
      <vt:lpstr>1. Machine Learning Models - Comparison</vt:lpstr>
      <vt:lpstr>1. Server Development</vt:lpstr>
      <vt:lpstr>1. Client Development</vt:lpstr>
      <vt:lpstr>1. Client Development</vt:lpstr>
      <vt:lpstr>1. Client Development</vt:lpstr>
      <vt:lpstr>2. Future Plans</vt:lpstr>
      <vt:lpstr>3. Demo/ Demonstration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VINH TRAN</dc:creator>
  <cp:lastModifiedBy>VINH TRAN</cp:lastModifiedBy>
  <cp:revision>5</cp:revision>
  <cp:lastPrinted>2023-01-31T22:42:47Z</cp:lastPrinted>
  <dcterms:created xsi:type="dcterms:W3CDTF">2025-10-12T23:31:16Z</dcterms:created>
  <dcterms:modified xsi:type="dcterms:W3CDTF">2026-03-05T08:36:56Z</dcterms:modified>
</cp:coreProperties>
</file>